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2.png"/><Relationship Id="rId5" Type="http://schemas.openxmlformats.org/officeDocument/2006/relationships/image" Target="../media/image-8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371600"/>
            <a:ext cx="5029200" cy="5029200"/>
          </a:xfrm>
          <a:prstGeom prst="ellipse">
            <a:avLst/>
          </a:prstGeom>
          <a:solidFill>
            <a:srgbClr val="1F5C3F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657600" cy="3657600"/>
          </a:xfrm>
          <a:prstGeom prst="ellipse">
            <a:avLst/>
          </a:prstGeom>
          <a:solidFill>
            <a:srgbClr val="1F5C3F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914400" cy="914400"/>
          </a:xfrm>
          <a:prstGeom prst="ellipse">
            <a:avLst/>
          </a:prstGeom>
          <a:solidFill>
            <a:srgbClr val="6FAE6E"/>
          </a:solidFill>
          <a:ln/>
        </p:spPr>
      </p:sp>
      <p:pic>
        <p:nvPicPr>
          <p:cNvPr id="5" name="Image 0" descr="assets/leaf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8915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KRISHIMITRA AI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22960" y="32461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FA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Farming Companion Powered by Gemma 4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3977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8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agricultural assistance for crop disease diagnosis, personalized guidance, and image-based crop analysis.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HACKATHON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F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face critical gaps in accessing timely agricultural expertise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4F1E8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2057400"/>
            <a:ext cx="640080" cy="640080"/>
          </a:xfrm>
          <a:prstGeom prst="ellipse">
            <a:avLst/>
          </a:prstGeom>
          <a:solidFill>
            <a:srgbClr val="1F5C3F"/>
          </a:solidFill>
          <a:ln/>
        </p:spPr>
      </p:sp>
      <p:pic>
        <p:nvPicPr>
          <p:cNvPr id="6" name="Image 0" descr="assets/c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5638" y="220141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834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Diagnoses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2918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access to specialists slows down crop disease identification.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10712" y="178308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4F1E8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93692" y="2057400"/>
            <a:ext cx="640080" cy="640080"/>
          </a:xfrm>
          <a:prstGeom prst="ellipse">
            <a:avLst/>
          </a:prstGeom>
          <a:solidFill>
            <a:srgbClr val="1F5C3F"/>
          </a:solidFill>
          <a:ln/>
        </p:spPr>
      </p:sp>
      <p:pic>
        <p:nvPicPr>
          <p:cNvPr id="11" name="Image 1" descr="assets/clou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7710" y="220141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2834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Connectivity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93592" y="32918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internet limits use of many digital farming tools.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72784" y="178308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4F1E8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55764" y="2057400"/>
            <a:ext cx="640080" cy="640080"/>
          </a:xfrm>
          <a:prstGeom prst="ellipse">
            <a:avLst/>
          </a:prstGeom>
          <a:solidFill>
            <a:srgbClr val="1F5C3F"/>
          </a:solidFill>
          <a:ln/>
        </p:spPr>
      </p:sp>
      <p:pic>
        <p:nvPicPr>
          <p:cNvPr id="16" name="Image 2" descr="assets/languag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782" y="2201418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9944" y="2834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Barriers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55664" y="32918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rarely speak the farmer's own language.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134856" y="178308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4F1E8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117836" y="2057400"/>
            <a:ext cx="640080" cy="640080"/>
          </a:xfrm>
          <a:prstGeom prst="ellipse">
            <a:avLst/>
          </a:prstGeom>
          <a:solidFill>
            <a:srgbClr val="1F5C3F"/>
          </a:solidFill>
          <a:ln/>
        </p:spPr>
      </p:sp>
      <p:pic>
        <p:nvPicPr>
          <p:cNvPr id="21" name="Image 3" descr="assets/warning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1854" y="2201418"/>
            <a:ext cx="352044" cy="3520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72016" y="2834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Advice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317736" y="32918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apps fail to give clear, contextual recommendations.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44348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63F2C"/>
          </a:solidFill>
          <a:ln/>
        </p:spPr>
      </p:sp>
      <p:sp>
        <p:nvSpPr>
          <p:cNvPr id="25" name="Text 19"/>
          <p:cNvSpPr/>
          <p:nvPr/>
        </p:nvSpPr>
        <p:spPr>
          <a:xfrm>
            <a:off x="914400" y="461772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KrishiMitra AI addresses these challenges with an intelligent agricultural assistant that understands images and natural language — delivering clear, practical recommendations instantly.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KrishiMitra AI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F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KrishiMitra AI combines artificial intelligence with an intuitive web app for instant agricultural support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685800" cy="685800"/>
          </a:xfrm>
          <a:prstGeom prst="ellipse">
            <a:avLst/>
          </a:prstGeom>
          <a:solidFill>
            <a:srgbClr val="6FAE6E"/>
          </a:solidFill>
          <a:ln/>
        </p:spPr>
      </p:sp>
      <p:pic>
        <p:nvPicPr>
          <p:cNvPr id="6" name="Image 0" descr="assets/camera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2137410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69164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crop diseases from uploaded images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3640" y="169164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92240" y="1965960"/>
            <a:ext cx="685800" cy="685800"/>
          </a:xfrm>
          <a:prstGeom prst="ellipse">
            <a:avLst/>
          </a:prstGeom>
          <a:solidFill>
            <a:srgbClr val="6FAE6E"/>
          </a:solidFill>
          <a:ln/>
        </p:spPr>
      </p:sp>
      <p:pic>
        <p:nvPicPr>
          <p:cNvPr id="10" name="Image 1" descr="assets/flas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690" y="213741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60920" y="169164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AI-generated treatment recommendations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306324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77240" y="3337560"/>
            <a:ext cx="685800" cy="685800"/>
          </a:xfrm>
          <a:prstGeom prst="ellipse">
            <a:avLst/>
          </a:prstGeom>
          <a:solidFill>
            <a:srgbClr val="6FAE6E"/>
          </a:solidFill>
          <a:ln/>
        </p:spPr>
      </p:sp>
      <p:pic>
        <p:nvPicPr>
          <p:cNvPr id="14" name="Image 2" descr="assets/robo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" y="3509010"/>
            <a:ext cx="342900" cy="3429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45920" y="306324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farming-related questions in natural language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306324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492240" y="3337560"/>
            <a:ext cx="685800" cy="685800"/>
          </a:xfrm>
          <a:prstGeom prst="ellipse">
            <a:avLst/>
          </a:prstGeom>
          <a:solidFill>
            <a:srgbClr val="6FAE6E"/>
          </a:solidFill>
          <a:ln/>
        </p:spPr>
      </p:sp>
      <p:pic>
        <p:nvPicPr>
          <p:cNvPr id="18" name="Image 3" descr="assets/tin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690" y="3509010"/>
            <a:ext cx="342900" cy="3429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60920" y="306324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fertilizer and irrigation guidance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548640" y="443484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77240" y="4709160"/>
            <a:ext cx="685800" cy="685800"/>
          </a:xfrm>
          <a:prstGeom prst="ellipse">
            <a:avLst/>
          </a:prstGeom>
          <a:solidFill>
            <a:srgbClr val="6FAE6E"/>
          </a:solidFill>
          <a:ln/>
        </p:spPr>
      </p:sp>
      <p:pic>
        <p:nvPicPr>
          <p:cNvPr id="22" name="Image 4" descr="assets/weathe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690" y="4880610"/>
            <a:ext cx="342900" cy="3429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45920" y="443484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weather and farming insights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6263640" y="443484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492240" y="4709160"/>
            <a:ext cx="685800" cy="685800"/>
          </a:xfrm>
          <a:prstGeom prst="ellipse">
            <a:avLst/>
          </a:prstGeom>
          <a:solidFill>
            <a:srgbClr val="6FAE6E"/>
          </a:solidFill>
          <a:ln/>
        </p:spPr>
      </p:sp>
      <p:pic>
        <p:nvPicPr>
          <p:cNvPr id="26" name="Image 5" descr="assets/leaf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3690" y="4880610"/>
            <a:ext cx="342900" cy="3429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360920" y="443484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Farmer-friendly conversational responses</a:t>
            </a:r>
            <a:endParaRPr lang="en-US" sz="1350" dirty="0"/>
          </a:p>
        </p:txBody>
      </p:sp>
      <p:sp>
        <p:nvSpPr>
          <p:cNvPr id="28" name="Text 2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KrishiMitra AI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F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integrated capabilities powering the farmer experience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4068" y="1417320"/>
            <a:ext cx="2103120" cy="1965960"/>
          </a:xfrm>
          <a:prstGeom prst="roundRect">
            <a:avLst>
              <a:gd name="adj" fmla="val 3721"/>
            </a:avLst>
          </a:prstGeom>
          <a:solidFill>
            <a:srgbClr val="F4F1E8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12164" y="1645920"/>
            <a:ext cx="566928" cy="566928"/>
          </a:xfrm>
          <a:prstGeom prst="ellipse">
            <a:avLst/>
          </a:prstGeom>
          <a:solidFill>
            <a:srgbClr val="1F5C3F"/>
          </a:solidFill>
          <a:ln/>
        </p:spPr>
      </p:sp>
      <p:pic>
        <p:nvPicPr>
          <p:cNvPr id="6" name="Image 0" descr="assets/robo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9723" y="1773479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3796" y="2331720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3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AI Assistant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793492" y="1417320"/>
            <a:ext cx="2103120" cy="1965960"/>
          </a:xfrm>
          <a:prstGeom prst="roundRect">
            <a:avLst>
              <a:gd name="adj" fmla="val 3721"/>
            </a:avLst>
          </a:prstGeom>
          <a:solidFill>
            <a:srgbClr val="F4F1E8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61588" y="1645920"/>
            <a:ext cx="566928" cy="566928"/>
          </a:xfrm>
          <a:prstGeom prst="ellipse">
            <a:avLst/>
          </a:prstGeom>
          <a:solidFill>
            <a:srgbClr val="1F5C3F"/>
          </a:solidFill>
          <a:ln/>
        </p:spPr>
      </p:sp>
      <p:pic>
        <p:nvPicPr>
          <p:cNvPr id="10" name="Image 1" descr="assets/mic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147" y="1773479"/>
            <a:ext cx="311810" cy="3118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03220" y="2331720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3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Voice-Based Conversations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042916" y="1417320"/>
            <a:ext cx="2103120" cy="1965960"/>
          </a:xfrm>
          <a:prstGeom prst="roundRect">
            <a:avLst>
              <a:gd name="adj" fmla="val 3721"/>
            </a:avLst>
          </a:prstGeom>
          <a:solidFill>
            <a:srgbClr val="F4F1E8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811012" y="1645920"/>
            <a:ext cx="566928" cy="566928"/>
          </a:xfrm>
          <a:prstGeom prst="ellipse">
            <a:avLst/>
          </a:prstGeom>
          <a:solidFill>
            <a:srgbClr val="1F5C3F"/>
          </a:solidFill>
          <a:ln/>
        </p:spPr>
      </p:sp>
      <p:pic>
        <p:nvPicPr>
          <p:cNvPr id="14" name="Image 2" descr="assets/camera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8571" y="1773479"/>
            <a:ext cx="311810" cy="31181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52644" y="2331720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3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Disease Detection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7292340" y="1417320"/>
            <a:ext cx="2103120" cy="1965960"/>
          </a:xfrm>
          <a:prstGeom prst="roundRect">
            <a:avLst>
              <a:gd name="adj" fmla="val 3721"/>
            </a:avLst>
          </a:prstGeom>
          <a:solidFill>
            <a:srgbClr val="F4F1E8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060436" y="1645920"/>
            <a:ext cx="566928" cy="566928"/>
          </a:xfrm>
          <a:prstGeom prst="ellipse">
            <a:avLst/>
          </a:prstGeom>
          <a:solidFill>
            <a:srgbClr val="1F5C3F"/>
          </a:solidFill>
          <a:ln/>
        </p:spPr>
      </p:sp>
      <p:pic>
        <p:nvPicPr>
          <p:cNvPr id="18" name="Image 3" descr="assets/weath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7995" y="1773479"/>
            <a:ext cx="311810" cy="31181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02068" y="2331720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3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Weather Advisory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9541764" y="1417320"/>
            <a:ext cx="2103120" cy="1965960"/>
          </a:xfrm>
          <a:prstGeom prst="roundRect">
            <a:avLst>
              <a:gd name="adj" fmla="val 3721"/>
            </a:avLst>
          </a:prstGeom>
          <a:solidFill>
            <a:srgbClr val="F4F1E8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0309860" y="1645920"/>
            <a:ext cx="566928" cy="566928"/>
          </a:xfrm>
          <a:prstGeom prst="ellipse">
            <a:avLst/>
          </a:prstGeom>
          <a:solidFill>
            <a:srgbClr val="1F5C3F"/>
          </a:solidFill>
          <a:ln/>
        </p:spPr>
      </p:sp>
      <p:pic>
        <p:nvPicPr>
          <p:cNvPr id="22" name="Image 4" descr="assets/seedling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7419" y="1773479"/>
            <a:ext cx="311810" cy="31181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651492" y="2331720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3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Guide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544068" y="3611880"/>
            <a:ext cx="2103120" cy="1965960"/>
          </a:xfrm>
          <a:prstGeom prst="roundRect">
            <a:avLst>
              <a:gd name="adj" fmla="val 3721"/>
            </a:avLst>
          </a:prstGeom>
          <a:solidFill>
            <a:srgbClr val="F4F1E8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1312164" y="3840480"/>
            <a:ext cx="566928" cy="566928"/>
          </a:xfrm>
          <a:prstGeom prst="ellipse">
            <a:avLst/>
          </a:prstGeom>
          <a:solidFill>
            <a:srgbClr val="1F5C3F"/>
          </a:solidFill>
          <a:ln/>
        </p:spPr>
      </p:sp>
      <p:pic>
        <p:nvPicPr>
          <p:cNvPr id="26" name="Image 5" descr="assets/tin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9723" y="3968039"/>
            <a:ext cx="311810" cy="31181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53796" y="4526280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3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Planning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2793492" y="3611880"/>
            <a:ext cx="2103120" cy="1965960"/>
          </a:xfrm>
          <a:prstGeom prst="roundRect">
            <a:avLst>
              <a:gd name="adj" fmla="val 3721"/>
            </a:avLst>
          </a:prstGeom>
          <a:solidFill>
            <a:srgbClr val="F4F1E8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3561588" y="3840480"/>
            <a:ext cx="566928" cy="566928"/>
          </a:xfrm>
          <a:prstGeom prst="ellipse">
            <a:avLst/>
          </a:prstGeom>
          <a:solidFill>
            <a:srgbClr val="1F5C3F"/>
          </a:solidFill>
          <a:ln/>
        </p:spPr>
      </p:sp>
      <p:pic>
        <p:nvPicPr>
          <p:cNvPr id="30" name="Image 6" descr="assets/flask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9147" y="3968039"/>
            <a:ext cx="311810" cy="31181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2903220" y="4526280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3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Fertilizer Recommendation</a:t>
            </a:r>
            <a:endParaRPr lang="en-US" sz="1150" dirty="0"/>
          </a:p>
        </p:txBody>
      </p:sp>
      <p:sp>
        <p:nvSpPr>
          <p:cNvPr id="32" name="Shape 23"/>
          <p:cNvSpPr/>
          <p:nvPr/>
        </p:nvSpPr>
        <p:spPr>
          <a:xfrm>
            <a:off x="5042916" y="3611880"/>
            <a:ext cx="2103120" cy="1965960"/>
          </a:xfrm>
          <a:prstGeom prst="roundRect">
            <a:avLst>
              <a:gd name="adj" fmla="val 3721"/>
            </a:avLst>
          </a:prstGeom>
          <a:solidFill>
            <a:srgbClr val="F4F1E8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5811012" y="3840480"/>
            <a:ext cx="566928" cy="566928"/>
          </a:xfrm>
          <a:prstGeom prst="ellipse">
            <a:avLst/>
          </a:prstGeom>
          <a:solidFill>
            <a:srgbClr val="1F5C3F"/>
          </a:solidFill>
          <a:ln/>
        </p:spPr>
      </p:sp>
      <p:pic>
        <p:nvPicPr>
          <p:cNvPr id="34" name="Image 7" descr="assets/chart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8571" y="3968039"/>
            <a:ext cx="311810" cy="31181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152644" y="4526280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3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Price Insights</a:t>
            </a:r>
            <a:endParaRPr lang="en-US" sz="1150" dirty="0"/>
          </a:p>
        </p:txBody>
      </p:sp>
      <p:sp>
        <p:nvSpPr>
          <p:cNvPr id="36" name="Shape 26"/>
          <p:cNvSpPr/>
          <p:nvPr/>
        </p:nvSpPr>
        <p:spPr>
          <a:xfrm>
            <a:off x="7292340" y="3611880"/>
            <a:ext cx="2103120" cy="1965960"/>
          </a:xfrm>
          <a:prstGeom prst="roundRect">
            <a:avLst>
              <a:gd name="adj" fmla="val 3721"/>
            </a:avLst>
          </a:prstGeom>
          <a:solidFill>
            <a:srgbClr val="F4F1E8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8060436" y="3840480"/>
            <a:ext cx="566928" cy="566928"/>
          </a:xfrm>
          <a:prstGeom prst="ellipse">
            <a:avLst/>
          </a:prstGeom>
          <a:solidFill>
            <a:srgbClr val="1F5C3F"/>
          </a:solidFill>
          <a:ln/>
        </p:spPr>
      </p:sp>
      <p:pic>
        <p:nvPicPr>
          <p:cNvPr id="38" name="Image 8" descr="assets/mobile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87995" y="3968039"/>
            <a:ext cx="311810" cy="31181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7402068" y="4526280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3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Dashboard</a:t>
            </a:r>
            <a:endParaRPr lang="en-US" sz="1150" dirty="0"/>
          </a:p>
        </p:txBody>
      </p:sp>
      <p:sp>
        <p:nvSpPr>
          <p:cNvPr id="40" name="Shape 29"/>
          <p:cNvSpPr/>
          <p:nvPr/>
        </p:nvSpPr>
        <p:spPr>
          <a:xfrm>
            <a:off x="9541764" y="3611880"/>
            <a:ext cx="2103120" cy="1965960"/>
          </a:xfrm>
          <a:prstGeom prst="roundRect">
            <a:avLst>
              <a:gd name="adj" fmla="val 3721"/>
            </a:avLst>
          </a:prstGeom>
          <a:solidFill>
            <a:srgbClr val="F4F1E8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1" name="Shape 30"/>
          <p:cNvSpPr/>
          <p:nvPr/>
        </p:nvSpPr>
        <p:spPr>
          <a:xfrm>
            <a:off x="10309860" y="3840480"/>
            <a:ext cx="566928" cy="566928"/>
          </a:xfrm>
          <a:prstGeom prst="ellipse">
            <a:avLst/>
          </a:prstGeom>
          <a:solidFill>
            <a:srgbClr val="1F5C3F"/>
          </a:solidFill>
          <a:ln/>
        </p:spPr>
      </p:sp>
      <p:pic>
        <p:nvPicPr>
          <p:cNvPr id="42" name="Image 9" descr="assets/language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37419" y="3968039"/>
            <a:ext cx="311810" cy="311810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9651492" y="4526280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3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Language Support</a:t>
            </a:r>
            <a:endParaRPr lang="en-US" sz="1150" dirty="0"/>
          </a:p>
        </p:txBody>
      </p:sp>
      <p:sp>
        <p:nvSpPr>
          <p:cNvPr id="44" name="Text 3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KrishiMitra AI</a:t>
            </a:r>
            <a:endParaRPr lang="en-US" sz="1000" dirty="0"/>
          </a:p>
        </p:txBody>
      </p:sp>
      <p:sp>
        <p:nvSpPr>
          <p:cNvPr id="45" name="Text 3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3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572000" cy="4572000"/>
          </a:xfrm>
          <a:prstGeom prst="ellipse">
            <a:avLst/>
          </a:prstGeom>
          <a:solidFill>
            <a:srgbClr val="1F5C3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4" name="Image 0" descr="assets/camera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806" y="688086"/>
            <a:ext cx="452628" cy="4526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Crop Disease Detection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upload an image of a crop or leaf. Gemma 4 identifies possible diseases, explains symptoms, provides confidence-based insights, and recommends preventive measures and treatment.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246120"/>
            <a:ext cx="5760720" cy="566928"/>
          </a:xfrm>
          <a:prstGeom prst="roundRect">
            <a:avLst>
              <a:gd name="adj" fmla="val 48387"/>
            </a:avLst>
          </a:prstGeom>
          <a:solidFill>
            <a:srgbClr val="1F5C3F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" y="324612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97280" y="324612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Image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4014216"/>
            <a:ext cx="5760720" cy="566928"/>
          </a:xfrm>
          <a:prstGeom prst="roundRect">
            <a:avLst>
              <a:gd name="adj" fmla="val 48387"/>
            </a:avLst>
          </a:prstGeom>
          <a:solidFill>
            <a:srgbClr val="1F5C3F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" y="401421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97280" y="4014216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4782312"/>
            <a:ext cx="5760720" cy="566928"/>
          </a:xfrm>
          <a:prstGeom prst="roundRect">
            <a:avLst>
              <a:gd name="adj" fmla="val 48387"/>
            </a:avLst>
          </a:prstGeom>
          <a:solidFill>
            <a:srgbClr val="1F5C3F"/>
          </a:solidFill>
          <a:ln/>
        </p:spPr>
      </p:sp>
      <p:sp>
        <p:nvSpPr>
          <p:cNvPr id="14" name="Text 11"/>
          <p:cNvSpPr/>
          <p:nvPr/>
        </p:nvSpPr>
        <p:spPr>
          <a:xfrm>
            <a:off x="658368" y="478231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97280" y="4782312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Construction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5550408"/>
            <a:ext cx="5760720" cy="566928"/>
          </a:xfrm>
          <a:prstGeom prst="roundRect">
            <a:avLst>
              <a:gd name="adj" fmla="val 48387"/>
            </a:avLst>
          </a:prstGeom>
          <a:solidFill>
            <a:srgbClr val="1F5C3F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555040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97280" y="555040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Analysis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6318504"/>
            <a:ext cx="5760720" cy="566928"/>
          </a:xfrm>
          <a:prstGeom prst="roundRect">
            <a:avLst>
              <a:gd name="adj" fmla="val 48387"/>
            </a:avLst>
          </a:prstGeom>
          <a:solidFill>
            <a:srgbClr val="1F5C3F"/>
          </a:solidFill>
          <a:ln/>
        </p:spPr>
      </p:sp>
      <p:sp>
        <p:nvSpPr>
          <p:cNvPr id="20" name="Text 17"/>
          <p:cNvSpPr/>
          <p:nvPr/>
        </p:nvSpPr>
        <p:spPr>
          <a:xfrm>
            <a:off x="658368" y="631850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097280" y="6318504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+ Treatment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858000" y="1554480"/>
            <a:ext cx="475488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132320" y="1828800"/>
            <a:ext cx="548640" cy="548640"/>
          </a:xfrm>
          <a:prstGeom prst="ellipse">
            <a:avLst/>
          </a:prstGeom>
          <a:solidFill>
            <a:srgbClr val="6FAE6E"/>
          </a:solidFill>
          <a:ln/>
        </p:spPr>
      </p:sp>
      <p:pic>
        <p:nvPicPr>
          <p:cNvPr id="24" name="Image 1" descr="assets/leaf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5764" y="1952244"/>
            <a:ext cx="301752" cy="30175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818120" y="1874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Diagnosis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7132320" y="2514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Disease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9052560" y="25146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Blight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7132320" y="3017520"/>
            <a:ext cx="420624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132320" y="3017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Level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9052560" y="3017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7132320" y="3520440"/>
            <a:ext cx="420624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132320" y="3520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Symptoms</a:t>
            </a:r>
            <a:endParaRPr lang="en-US" sz="1150" dirty="0"/>
          </a:p>
        </p:txBody>
      </p:sp>
      <p:sp>
        <p:nvSpPr>
          <p:cNvPr id="33" name="Text 29"/>
          <p:cNvSpPr/>
          <p:nvPr/>
        </p:nvSpPr>
        <p:spPr>
          <a:xfrm>
            <a:off x="9052560" y="3520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leaf spots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7132320" y="4023360"/>
            <a:ext cx="420624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7132320" y="4023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150" dirty="0"/>
          </a:p>
        </p:txBody>
      </p:sp>
      <p:sp>
        <p:nvSpPr>
          <p:cNvPr id="36" name="Text 32"/>
          <p:cNvSpPr/>
          <p:nvPr/>
        </p:nvSpPr>
        <p:spPr>
          <a:xfrm>
            <a:off x="9052560" y="4023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Copper-based fungicide</a:t>
            </a:r>
            <a:endParaRPr lang="en-US" sz="1150" dirty="0"/>
          </a:p>
        </p:txBody>
      </p:sp>
      <p:sp>
        <p:nvSpPr>
          <p:cNvPr id="37" name="Shape 33"/>
          <p:cNvSpPr/>
          <p:nvPr/>
        </p:nvSpPr>
        <p:spPr>
          <a:xfrm>
            <a:off x="7132320" y="4526280"/>
            <a:ext cx="420624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7132320" y="4526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</a:t>
            </a:r>
            <a:endParaRPr lang="en-US" sz="1150" dirty="0"/>
          </a:p>
        </p:txBody>
      </p:sp>
      <p:sp>
        <p:nvSpPr>
          <p:cNvPr id="39" name="Text 35"/>
          <p:cNvSpPr/>
          <p:nvPr/>
        </p:nvSpPr>
        <p:spPr>
          <a:xfrm>
            <a:off x="9052560" y="4526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air circulation</a:t>
            </a:r>
            <a:endParaRPr lang="en-US" sz="1150" dirty="0"/>
          </a:p>
        </p:txBody>
      </p:sp>
      <p:sp>
        <p:nvSpPr>
          <p:cNvPr id="40" name="Text 36"/>
          <p:cNvSpPr/>
          <p:nvPr/>
        </p:nvSpPr>
        <p:spPr>
          <a:xfrm>
            <a:off x="7132320" y="5394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uncertain, the AI clearly states uncertainty instead of guessing.</a:t>
            </a:r>
            <a:endParaRPr lang="en-US" sz="1050" dirty="0"/>
          </a:p>
        </p:txBody>
      </p:sp>
      <p:sp>
        <p:nvSpPr>
          <p:cNvPr id="41" name="Text 3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E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KrishiMitra AI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E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F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Chose Gemma 4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serves as the intelligence engine behind KrishiMitra AI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94360" cy="594360"/>
          </a:xfrm>
          <a:prstGeom prst="ellipse">
            <a:avLst/>
          </a:prstGeom>
          <a:solidFill>
            <a:srgbClr val="1F5C3F"/>
          </a:solidFill>
          <a:ln/>
        </p:spPr>
      </p:sp>
      <p:pic>
        <p:nvPicPr>
          <p:cNvPr id="5" name="Image 0" descr="assets/camera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371" y="1916811"/>
            <a:ext cx="326898" cy="3268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691640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multimodal understanding for image-based crop analysis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263640" y="1783080"/>
            <a:ext cx="594360" cy="594360"/>
          </a:xfrm>
          <a:prstGeom prst="ellipse">
            <a:avLst/>
          </a:prstGeom>
          <a:solidFill>
            <a:srgbClr val="1F5C3F"/>
          </a:solidFill>
          <a:ln/>
        </p:spPr>
      </p:sp>
      <p:pic>
        <p:nvPicPr>
          <p:cNvPr id="8" name="Image 1" descr="assets/bra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7371" y="1916811"/>
            <a:ext cx="326898" cy="32689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40880" y="1691640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reasoning for agricultural problem solving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2999232"/>
            <a:ext cx="594360" cy="594360"/>
          </a:xfrm>
          <a:prstGeom prst="ellipse">
            <a:avLst/>
          </a:prstGeom>
          <a:solidFill>
            <a:srgbClr val="1F5C3F"/>
          </a:solidFill>
          <a:ln/>
        </p:spPr>
      </p:sp>
      <p:pic>
        <p:nvPicPr>
          <p:cNvPr id="11" name="Image 2" descr="asset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71" y="3132963"/>
            <a:ext cx="326898" cy="32689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2907792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High-quality instruction following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263640" y="2999232"/>
            <a:ext cx="594360" cy="594360"/>
          </a:xfrm>
          <a:prstGeom prst="ellipse">
            <a:avLst/>
          </a:prstGeom>
          <a:solidFill>
            <a:srgbClr val="1F5C3F"/>
          </a:solidFill>
          <a:ln/>
        </p:spPr>
      </p:sp>
      <p:pic>
        <p:nvPicPr>
          <p:cNvPr id="14" name="Image 3" descr="assets/robo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7371" y="3132963"/>
            <a:ext cx="326898" cy="32689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040880" y="2907792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conversations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548640" y="4215384"/>
            <a:ext cx="594360" cy="594360"/>
          </a:xfrm>
          <a:prstGeom prst="ellipse">
            <a:avLst/>
          </a:prstGeom>
          <a:solidFill>
            <a:srgbClr val="1F5C3F"/>
          </a:solidFill>
          <a:ln/>
        </p:spPr>
      </p:sp>
      <p:pic>
        <p:nvPicPr>
          <p:cNvPr id="17" name="Image 4" descr="assets/rocke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371" y="4349115"/>
            <a:ext cx="326898" cy="32689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25880" y="4123944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inference for real-time assistance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6263640" y="4215384"/>
            <a:ext cx="594360" cy="594360"/>
          </a:xfrm>
          <a:prstGeom prst="ellipse">
            <a:avLst/>
          </a:prstGeom>
          <a:solidFill>
            <a:srgbClr val="1F5C3F"/>
          </a:solidFill>
          <a:ln/>
        </p:spPr>
      </p:sp>
      <p:pic>
        <p:nvPicPr>
          <p:cNvPr id="20" name="Image 5" descr="assets/clou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7371" y="4349115"/>
            <a:ext cx="326898" cy="32689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040880" y="4123944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potentially offline deployment path</a:t>
            </a:r>
            <a:endParaRPr lang="en-US" sz="1250" dirty="0"/>
          </a:p>
        </p:txBody>
      </p:sp>
      <p:sp>
        <p:nvSpPr>
          <p:cNvPr id="22" name="Shape 14"/>
          <p:cNvSpPr/>
          <p:nvPr/>
        </p:nvSpPr>
        <p:spPr>
          <a:xfrm>
            <a:off x="548640" y="525780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4F1E8"/>
          </a:solidFill>
          <a:ln/>
        </p:spPr>
      </p:sp>
      <p:sp>
        <p:nvSpPr>
          <p:cNvPr id="23" name="Text 15"/>
          <p:cNvSpPr/>
          <p:nvPr/>
        </p:nvSpPr>
        <p:spPr>
          <a:xfrm>
            <a:off x="822960" y="52578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63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fixed rules, Gemma 4 dynamically analyzes each request and generates explanations tailored to the farmer's situation.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KrishiMitra AI</a:t>
            </a:r>
            <a:endParaRPr lang="en-US" sz="1000" dirty="0"/>
          </a:p>
        </p:txBody>
      </p:sp>
      <p:sp>
        <p:nvSpPr>
          <p:cNvPr id="25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F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943100" y="1645920"/>
            <a:ext cx="731520" cy="731520"/>
          </a:xfrm>
          <a:prstGeom prst="ellipse">
            <a:avLst/>
          </a:prstGeom>
          <a:solidFill>
            <a:srgbClr val="1F5C3F"/>
          </a:solidFill>
          <a:ln/>
        </p:spPr>
      </p:sp>
      <p:pic>
        <p:nvPicPr>
          <p:cNvPr id="5" name="Image 0" descr="assets/reac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7692" y="181051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5146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05840" y="297180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25112" y="137160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19572" y="1645920"/>
            <a:ext cx="731520" cy="731520"/>
          </a:xfrm>
          <a:prstGeom prst="ellipse">
            <a:avLst/>
          </a:prstGeom>
          <a:solidFill>
            <a:srgbClr val="1F5C3F"/>
          </a:solidFill>
          <a:ln/>
        </p:spPr>
      </p:sp>
      <p:pic>
        <p:nvPicPr>
          <p:cNvPr id="10" name="Image 1" descr="asset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164" y="181051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07992" y="25146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782312" y="297180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Database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101584" y="137160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496044" y="1645920"/>
            <a:ext cx="731520" cy="731520"/>
          </a:xfrm>
          <a:prstGeom prst="ellipse">
            <a:avLst/>
          </a:prstGeom>
          <a:solidFill>
            <a:srgbClr val="1F5C3F"/>
          </a:solidFill>
          <a:ln/>
        </p:spPr>
      </p:sp>
      <p:pic>
        <p:nvPicPr>
          <p:cNvPr id="15" name="Image 2" descr="assets/brai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0636" y="1810512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84464" y="25146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558784" y="297180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GenAI SDK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48640" y="4617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676656" y="5074920"/>
            <a:ext cx="1691640" cy="502920"/>
          </a:xfrm>
          <a:prstGeom prst="roundRect">
            <a:avLst>
              <a:gd name="adj" fmla="val 50909"/>
            </a:avLst>
          </a:prstGeom>
          <a:solidFill>
            <a:srgbClr val="1F5C3F"/>
          </a:solidFill>
          <a:ln/>
        </p:spPr>
      </p:sp>
      <p:sp>
        <p:nvSpPr>
          <p:cNvPr id="20" name="Text 15"/>
          <p:cNvSpPr/>
          <p:nvPr/>
        </p:nvSpPr>
        <p:spPr>
          <a:xfrm>
            <a:off x="676656" y="5074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2368296" y="5074920"/>
            <a:ext cx="155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2505456" y="5074920"/>
            <a:ext cx="1691640" cy="502920"/>
          </a:xfrm>
          <a:prstGeom prst="roundRect">
            <a:avLst>
              <a:gd name="adj" fmla="val 50909"/>
            </a:avLst>
          </a:prstGeom>
          <a:solidFill>
            <a:srgbClr val="1F5C3F"/>
          </a:solidFill>
          <a:ln/>
        </p:spPr>
      </p:sp>
      <p:sp>
        <p:nvSpPr>
          <p:cNvPr id="23" name="Text 18"/>
          <p:cNvSpPr/>
          <p:nvPr/>
        </p:nvSpPr>
        <p:spPr>
          <a:xfrm>
            <a:off x="2505456" y="5074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4197096" y="5074920"/>
            <a:ext cx="155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4334256" y="5074920"/>
            <a:ext cx="1691640" cy="502920"/>
          </a:xfrm>
          <a:prstGeom prst="roundRect">
            <a:avLst>
              <a:gd name="adj" fmla="val 50909"/>
            </a:avLst>
          </a:prstGeom>
          <a:solidFill>
            <a:srgbClr val="1F5C3F"/>
          </a:solidFill>
          <a:ln/>
        </p:spPr>
      </p:sp>
      <p:sp>
        <p:nvSpPr>
          <p:cNvPr id="26" name="Text 21"/>
          <p:cNvSpPr/>
          <p:nvPr/>
        </p:nvSpPr>
        <p:spPr>
          <a:xfrm>
            <a:off x="4334256" y="5074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6025896" y="5074920"/>
            <a:ext cx="155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6163056" y="5074920"/>
            <a:ext cx="1691640" cy="502920"/>
          </a:xfrm>
          <a:prstGeom prst="roundRect">
            <a:avLst>
              <a:gd name="adj" fmla="val 50909"/>
            </a:avLst>
          </a:prstGeom>
          <a:solidFill>
            <a:srgbClr val="1F5C3F"/>
          </a:solidFill>
          <a:ln/>
        </p:spPr>
      </p:sp>
      <p:sp>
        <p:nvSpPr>
          <p:cNvPr id="29" name="Text 24"/>
          <p:cNvSpPr/>
          <p:nvPr/>
        </p:nvSpPr>
        <p:spPr>
          <a:xfrm>
            <a:off x="6163056" y="5074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API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7854696" y="5074920"/>
            <a:ext cx="155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7991856" y="5074920"/>
            <a:ext cx="1691640" cy="502920"/>
          </a:xfrm>
          <a:prstGeom prst="roundRect">
            <a:avLst>
              <a:gd name="adj" fmla="val 50909"/>
            </a:avLst>
          </a:prstGeom>
          <a:solidFill>
            <a:srgbClr val="1F5C3F"/>
          </a:solidFill>
          <a:ln/>
        </p:spPr>
      </p:sp>
      <p:sp>
        <p:nvSpPr>
          <p:cNvPr id="32" name="Text 27"/>
          <p:cNvSpPr/>
          <p:nvPr/>
        </p:nvSpPr>
        <p:spPr>
          <a:xfrm>
            <a:off x="7991856" y="5074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Processing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9683496" y="5074920"/>
            <a:ext cx="155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Shape 29"/>
          <p:cNvSpPr/>
          <p:nvPr/>
        </p:nvSpPr>
        <p:spPr>
          <a:xfrm>
            <a:off x="9820656" y="5074920"/>
            <a:ext cx="1691640" cy="502920"/>
          </a:xfrm>
          <a:prstGeom prst="roundRect">
            <a:avLst>
              <a:gd name="adj" fmla="val 50909"/>
            </a:avLst>
          </a:prstGeom>
          <a:solidFill>
            <a:srgbClr val="1F5C3F"/>
          </a:solidFill>
          <a:ln/>
        </p:spPr>
      </p:sp>
      <p:sp>
        <p:nvSpPr>
          <p:cNvPr id="35" name="Text 30"/>
          <p:cNvSpPr/>
          <p:nvPr/>
        </p:nvSpPr>
        <p:spPr>
          <a:xfrm>
            <a:off x="9820656" y="5074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36" name="Text 3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KrishiMitra AI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3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" name="Image 0" descr="assets/tool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806" y="688086"/>
            <a:ext cx="452628" cy="452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463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8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prompts guide Gemma 4 toward reliable, agriculture-specific reasoning and reduce hallucinations.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5760720" cy="4023360"/>
          </a:xfrm>
          <a:prstGeom prst="roundRect">
            <a:avLst>
              <a:gd name="adj" fmla="val 2273"/>
            </a:avLst>
          </a:prstGeom>
          <a:solidFill>
            <a:srgbClr val="163F2C"/>
          </a:solidFill>
          <a:ln/>
        </p:spPr>
      </p:sp>
      <p:sp>
        <p:nvSpPr>
          <p:cNvPr id="7" name="Shape 4"/>
          <p:cNvSpPr/>
          <p:nvPr/>
        </p:nvSpPr>
        <p:spPr>
          <a:xfrm>
            <a:off x="777240" y="2331720"/>
            <a:ext cx="146304" cy="146304"/>
          </a:xfrm>
          <a:prstGeom prst="ellipse">
            <a:avLst/>
          </a:prstGeom>
          <a:solidFill>
            <a:srgbClr val="E86A5C"/>
          </a:solidFill>
          <a:ln/>
        </p:spPr>
      </p:sp>
      <p:sp>
        <p:nvSpPr>
          <p:cNvPr id="8" name="Shape 5"/>
          <p:cNvSpPr/>
          <p:nvPr/>
        </p:nvSpPr>
        <p:spPr>
          <a:xfrm>
            <a:off x="1005840" y="233172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Shape 6"/>
          <p:cNvSpPr/>
          <p:nvPr/>
        </p:nvSpPr>
        <p:spPr>
          <a:xfrm>
            <a:off x="1234440" y="2331720"/>
            <a:ext cx="146304" cy="146304"/>
          </a:xfrm>
          <a:prstGeom prst="ellipse">
            <a:avLst/>
          </a:prstGeom>
          <a:solidFill>
            <a:srgbClr val="6FAE6E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65176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an experienced agricultural expert.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 the uploaded crop image.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Identify: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Possible disease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Confidence level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Visible symptoms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Treatment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Preventive measures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Farmer-friendly explanation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uncertain, clearly mention the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uncertainty instead of making assumptions.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675120" y="2103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Structured Prompting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675120" y="2743200"/>
            <a:ext cx="457200" cy="457200"/>
          </a:xfrm>
          <a:prstGeom prst="ellipse">
            <a:avLst/>
          </a:prstGeom>
          <a:solidFill>
            <a:srgbClr val="6FAE6E"/>
          </a:solidFill>
          <a:ln/>
        </p:spPr>
      </p:sp>
      <p:pic>
        <p:nvPicPr>
          <p:cNvPr id="13" name="Image 1" descr="asset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990" y="2846070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15200" y="2670048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response consistency across varied images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675120" y="3520440"/>
            <a:ext cx="457200" cy="457200"/>
          </a:xfrm>
          <a:prstGeom prst="ellipse">
            <a:avLst/>
          </a:prstGeom>
          <a:solidFill>
            <a:srgbClr val="6FAE6E"/>
          </a:solidFill>
          <a:ln/>
        </p:spPr>
      </p:sp>
      <p:pic>
        <p:nvPicPr>
          <p:cNvPr id="16" name="Image 2" descr="asset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7990" y="362331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315200" y="3447288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unsupported conclusions and hallucinations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675120" y="4297680"/>
            <a:ext cx="457200" cy="457200"/>
          </a:xfrm>
          <a:prstGeom prst="ellipse">
            <a:avLst/>
          </a:prstGeom>
          <a:solidFill>
            <a:srgbClr val="6FAE6E"/>
          </a:solidFill>
          <a:ln/>
        </p:spPr>
      </p:sp>
      <p:pic>
        <p:nvPicPr>
          <p:cNvPr id="19" name="Image 3" descr="asset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7990" y="4400550"/>
            <a:ext cx="251460" cy="2514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15200" y="4224528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Encourages transparent, explainable AI reasoning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675120" y="5074920"/>
            <a:ext cx="457200" cy="457200"/>
          </a:xfrm>
          <a:prstGeom prst="ellipse">
            <a:avLst/>
          </a:prstGeom>
          <a:solidFill>
            <a:srgbClr val="6FAE6E"/>
          </a:solidFill>
          <a:ln/>
        </p:spPr>
      </p:sp>
      <p:pic>
        <p:nvPicPr>
          <p:cNvPr id="22" name="Image 4" descr="asset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7990" y="5177790"/>
            <a:ext cx="251460" cy="2514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315200" y="5001768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imperfect inputs — poor lighting, angle, quality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E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KrishiMitra AI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E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F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4F1E8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600200" y="1435608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5" name="Image 0" descr="assets/c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3357" y="1548765"/>
            <a:ext cx="276606" cy="2766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2057400"/>
            <a:ext cx="2386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Development Time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5800" y="24688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hackathon required strict feature prioritization.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410712" y="12344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4F1E8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462272" y="1435608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0" name="Image 1" descr="assets/warnin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429" y="1548765"/>
            <a:ext cx="276606" cy="2766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20440" y="2057400"/>
            <a:ext cx="2386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AI Responses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547872" y="24688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prompts to reduce unsupported conclusions.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272784" y="12344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4F1E8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324344" y="1435608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5" name="Image 2" descr="assets/camera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501" y="1548765"/>
            <a:ext cx="276606" cy="27660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82512" y="2057400"/>
            <a:ext cx="2386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Variability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409944" y="24688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Varying lighting/quality handled via prompt engineering.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9134856" y="12344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4F1E8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0186416" y="1435608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0" name="Image 3" descr="assets/mobi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9573" y="1548765"/>
            <a:ext cx="276606" cy="27660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44584" y="2057400"/>
            <a:ext cx="2386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9272016" y="24688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interface simple despite many AI features.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548640" y="3520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F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Decisions</a:t>
            </a:r>
            <a:endParaRPr lang="en-US" sz="2200" dirty="0"/>
          </a:p>
        </p:txBody>
      </p:sp>
      <p:sp>
        <p:nvSpPr>
          <p:cNvPr id="24" name="Shape 18"/>
          <p:cNvSpPr/>
          <p:nvPr/>
        </p:nvSpPr>
        <p:spPr>
          <a:xfrm>
            <a:off x="548640" y="40690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163F2C"/>
          </a:solidFill>
          <a:ln/>
        </p:spPr>
      </p:sp>
      <p:sp>
        <p:nvSpPr>
          <p:cNvPr id="25" name="Text 19"/>
          <p:cNvSpPr/>
          <p:nvPr/>
        </p:nvSpPr>
        <p:spPr>
          <a:xfrm>
            <a:off x="685800" y="4206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685800" y="457200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development &amp; reusable, responsive components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3410712" y="40690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163F2C"/>
          </a:solidFill>
          <a:ln/>
        </p:spPr>
      </p:sp>
      <p:sp>
        <p:nvSpPr>
          <p:cNvPr id="28" name="Text 22"/>
          <p:cNvSpPr/>
          <p:nvPr/>
        </p:nvSpPr>
        <p:spPr>
          <a:xfrm>
            <a:off x="3547872" y="4206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3547872" y="457200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backend with managed cloud infrastructure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6272784" y="40690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163F2C"/>
          </a:solidFill>
          <a:ln/>
        </p:spPr>
      </p:sp>
      <p:sp>
        <p:nvSpPr>
          <p:cNvPr id="31" name="Text 25"/>
          <p:cNvSpPr/>
          <p:nvPr/>
        </p:nvSpPr>
        <p:spPr>
          <a:xfrm>
            <a:off x="6409944" y="4206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350" dirty="0"/>
          </a:p>
        </p:txBody>
      </p:sp>
      <p:sp>
        <p:nvSpPr>
          <p:cNvPr id="32" name="Text 26"/>
          <p:cNvSpPr/>
          <p:nvPr/>
        </p:nvSpPr>
        <p:spPr>
          <a:xfrm>
            <a:off x="6409944" y="457200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Efficient, consistent styling under time pressure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9134856" y="40690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163F2C"/>
          </a:solidFill>
          <a:ln/>
        </p:spPr>
      </p:sp>
      <p:sp>
        <p:nvSpPr>
          <p:cNvPr id="34" name="Text 28"/>
          <p:cNvSpPr/>
          <p:nvPr/>
        </p:nvSpPr>
        <p:spPr>
          <a:xfrm>
            <a:off x="9272016" y="4206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</a:t>
            </a:r>
            <a:endParaRPr lang="en-US" sz="1350" dirty="0"/>
          </a:p>
        </p:txBody>
      </p:sp>
      <p:sp>
        <p:nvSpPr>
          <p:cNvPr id="35" name="Text 29"/>
          <p:cNvSpPr/>
          <p:nvPr/>
        </p:nvSpPr>
        <p:spPr>
          <a:xfrm>
            <a:off x="9272016" y="457200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multimodal reasoning &amp; scalable deployment</a:t>
            </a:r>
            <a:endParaRPr lang="en-US" sz="1050" dirty="0"/>
          </a:p>
        </p:txBody>
      </p:sp>
      <p:sp>
        <p:nvSpPr>
          <p:cNvPr id="36" name="Text 3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KrishiMitra AI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3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1F5C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 Who Benefits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8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providing instant, AI-powered guidance, KrishiMitra AI reduces dependency on delayed expert consultations.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13816" y="210312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1F5C3F"/>
          </a:solidFill>
          <a:ln/>
        </p:spPr>
      </p:sp>
      <p:sp>
        <p:nvSpPr>
          <p:cNvPr id="6" name="Shape 4"/>
          <p:cNvSpPr/>
          <p:nvPr/>
        </p:nvSpPr>
        <p:spPr>
          <a:xfrm>
            <a:off x="1476756" y="242316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7" name="Image 0" descr="assets/seedl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0774" y="2567178"/>
            <a:ext cx="352044" cy="3520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05256" y="32918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Small-Scale Farmers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962656" y="210312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1F5C3F"/>
          </a:solidFill>
          <a:ln/>
        </p:spPr>
      </p:sp>
      <p:sp>
        <p:nvSpPr>
          <p:cNvPr id="10" name="Shape 7"/>
          <p:cNvSpPr/>
          <p:nvPr/>
        </p:nvSpPr>
        <p:spPr>
          <a:xfrm>
            <a:off x="3625596" y="242316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1" descr="assets/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9614" y="256717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54096" y="32918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Communities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111496" y="210312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1F5C3F"/>
          </a:solidFill>
          <a:ln/>
        </p:spPr>
      </p:sp>
      <p:sp>
        <p:nvSpPr>
          <p:cNvPr id="14" name="Shape 10"/>
          <p:cNvSpPr/>
          <p:nvPr/>
        </p:nvSpPr>
        <p:spPr>
          <a:xfrm>
            <a:off x="5774436" y="242316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5" name="Image 2" descr="assets/bulb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8454" y="2567178"/>
            <a:ext cx="352044" cy="3520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02936" y="32918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Students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7260336" y="210312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1F5C3F"/>
          </a:solidFill>
          <a:ln/>
        </p:spPr>
      </p:sp>
      <p:sp>
        <p:nvSpPr>
          <p:cNvPr id="18" name="Shape 13"/>
          <p:cNvSpPr/>
          <p:nvPr/>
        </p:nvSpPr>
        <p:spPr>
          <a:xfrm>
            <a:off x="7923276" y="242316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9" name="Image 3" descr="assets/map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7294" y="2567178"/>
            <a:ext cx="352044" cy="3520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51776" y="32918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Workers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9409176" y="210312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1F5C3F"/>
          </a:solidFill>
          <a:ln/>
        </p:spPr>
      </p:sp>
      <p:sp>
        <p:nvSpPr>
          <p:cNvPr id="22" name="Shape 16"/>
          <p:cNvSpPr/>
          <p:nvPr/>
        </p:nvSpPr>
        <p:spPr>
          <a:xfrm>
            <a:off x="10072116" y="242316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3" name="Image 4" descr="assets/leaf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6134" y="2567178"/>
            <a:ext cx="352044" cy="3520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500616" y="32918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Farmers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E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KrishiMitra AI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E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F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to evolve KrishiMitra AI into a production-ready platform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35508" y="16916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18388" y="2217420"/>
            <a:ext cx="502920" cy="502920"/>
          </a:xfrm>
          <a:prstGeom prst="ellipse">
            <a:avLst/>
          </a:prstGeom>
          <a:solidFill>
            <a:srgbClr val="1F5C3F"/>
          </a:solidFill>
          <a:ln/>
        </p:spPr>
      </p:sp>
      <p:pic>
        <p:nvPicPr>
          <p:cNvPr id="6" name="Image 0" descr="assets/clou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545" y="233057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58468" y="169164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AI Support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06140" y="16916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89020" y="2217420"/>
            <a:ext cx="502920" cy="502920"/>
          </a:xfrm>
          <a:prstGeom prst="ellipse">
            <a:avLst/>
          </a:prstGeom>
          <a:solidFill>
            <a:srgbClr val="1F5C3F"/>
          </a:solidFill>
          <a:ln/>
        </p:spPr>
      </p:sp>
      <p:pic>
        <p:nvPicPr>
          <p:cNvPr id="10" name="Image 1" descr="assets/languag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177" y="2330577"/>
            <a:ext cx="276606" cy="2766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29100" y="169164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Regional Languages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76772" y="16916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359652" y="2217420"/>
            <a:ext cx="502920" cy="502920"/>
          </a:xfrm>
          <a:prstGeom prst="ellipse">
            <a:avLst/>
          </a:prstGeom>
          <a:solidFill>
            <a:srgbClr val="1F5C3F"/>
          </a:solidFill>
          <a:ln/>
        </p:spPr>
      </p:sp>
      <p:pic>
        <p:nvPicPr>
          <p:cNvPr id="14" name="Image 2" descr="assets/datab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809" y="2330577"/>
            <a:ext cx="276606" cy="27660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99732" y="169164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Govt. Scheme Integration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947404" y="16916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130284" y="2217420"/>
            <a:ext cx="502920" cy="502920"/>
          </a:xfrm>
          <a:prstGeom prst="ellipse">
            <a:avLst/>
          </a:prstGeom>
          <a:solidFill>
            <a:srgbClr val="1F5C3F"/>
          </a:solidFill>
          <a:ln/>
        </p:spPr>
      </p:sp>
      <p:pic>
        <p:nvPicPr>
          <p:cNvPr id="18" name="Image 3" descr="assets/satellit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3441" y="2330577"/>
            <a:ext cx="276606" cy="27660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770364" y="169164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 Connectivity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35508" y="34290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18388" y="3954780"/>
            <a:ext cx="502920" cy="502920"/>
          </a:xfrm>
          <a:prstGeom prst="ellipse">
            <a:avLst/>
          </a:prstGeom>
          <a:solidFill>
            <a:srgbClr val="1F5C3F"/>
          </a:solidFill>
          <a:ln/>
        </p:spPr>
      </p:sp>
      <p:pic>
        <p:nvPicPr>
          <p:cNvPr id="22" name="Image 4" descr="assets/map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545" y="4067937"/>
            <a:ext cx="276606" cy="27660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58468" y="342900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Crop Monitoring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3406140" y="34290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3589020" y="3954780"/>
            <a:ext cx="502920" cy="502920"/>
          </a:xfrm>
          <a:prstGeom prst="ellipse">
            <a:avLst/>
          </a:prstGeom>
          <a:solidFill>
            <a:srgbClr val="1F5C3F"/>
          </a:solidFill>
          <a:ln/>
        </p:spPr>
      </p:sp>
      <p:pic>
        <p:nvPicPr>
          <p:cNvPr id="26" name="Image 5" descr="assets/char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2177" y="4067937"/>
            <a:ext cx="276606" cy="27660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229100" y="342900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Yield Prediction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6176772" y="34290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6359652" y="3954780"/>
            <a:ext cx="502920" cy="502920"/>
          </a:xfrm>
          <a:prstGeom prst="ellipse">
            <a:avLst/>
          </a:prstGeom>
          <a:solidFill>
            <a:srgbClr val="1F5C3F"/>
          </a:solidFill>
          <a:ln/>
        </p:spPr>
      </p:sp>
      <p:pic>
        <p:nvPicPr>
          <p:cNvPr id="30" name="Image 6" descr="assets/flask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2809" y="4067937"/>
            <a:ext cx="276606" cy="27660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999732" y="342900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Tracking &amp; Analytics</a:t>
            </a:r>
            <a:endParaRPr lang="en-US" sz="1200" dirty="0"/>
          </a:p>
        </p:txBody>
      </p:sp>
      <p:sp>
        <p:nvSpPr>
          <p:cNvPr id="32" name="Text 2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KrishiMitra AI</a:t>
            </a:r>
            <a:endParaRPr lang="en-US" sz="1000" dirty="0"/>
          </a:p>
        </p:txBody>
      </p:sp>
      <p:sp>
        <p:nvSpPr>
          <p:cNvPr id="33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3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1F5C3F"/>
          </a:solidFill>
          <a:ln/>
        </p:spPr>
      </p:sp>
      <p:sp>
        <p:nvSpPr>
          <p:cNvPr id="3" name="Shape 1"/>
          <p:cNvSpPr/>
          <p:nvPr/>
        </p:nvSpPr>
        <p:spPr>
          <a:xfrm>
            <a:off x="5591556" y="1005840"/>
            <a:ext cx="1005840" cy="1005840"/>
          </a:xfrm>
          <a:prstGeom prst="ellipse">
            <a:avLst/>
          </a:prstGeom>
          <a:solidFill>
            <a:srgbClr val="6FAE6E"/>
          </a:solidFill>
          <a:ln/>
        </p:spPr>
      </p:sp>
      <p:pic>
        <p:nvPicPr>
          <p:cNvPr id="4" name="Image 0" descr="assets/leaf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7870" y="1232154"/>
            <a:ext cx="553212" cy="5532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194560"/>
            <a:ext cx="12188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645920" y="2971800"/>
            <a:ext cx="8869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8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KrishiMitra AI demonstrates how Gemma 4 can be applied to solve real-world agricultural challenges — combining multimodal reasoning with an intuitive interface to deliver scalable, accessible, and practical farming assistance.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0" y="44348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24 hours. Designed for real-world impact.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E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KrishiMitra AI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E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KrishiMitra AI</dc:title>
  <dc:subject>PptxGenJS Presentation</dc:subject>
  <dc:creator>KrishiMitra AI Team</dc:creator>
  <cp:lastModifiedBy>KrishiMitra AI Team</cp:lastModifiedBy>
  <cp:revision>1</cp:revision>
  <dcterms:created xsi:type="dcterms:W3CDTF">2026-07-05T06:27:24Z</dcterms:created>
  <dcterms:modified xsi:type="dcterms:W3CDTF">2026-07-05T06:27:24Z</dcterms:modified>
</cp:coreProperties>
</file>